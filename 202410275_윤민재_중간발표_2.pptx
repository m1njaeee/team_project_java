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9" r:id="rId2"/>
    <p:sldId id="274" r:id="rId3"/>
    <p:sldId id="275" r:id="rId4"/>
    <p:sldId id="277" r:id="rId5"/>
    <p:sldId id="289" r:id="rId6"/>
    <p:sldId id="290" r:id="rId7"/>
    <p:sldId id="291" r:id="rId8"/>
    <p:sldId id="280" r:id="rId9"/>
    <p:sldId id="288" r:id="rId10"/>
    <p:sldId id="27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7D4"/>
    <a:srgbClr val="B0CBE2"/>
    <a:srgbClr val="BCD3E6"/>
    <a:srgbClr val="558FBF"/>
    <a:srgbClr val="F3E8D1"/>
    <a:srgbClr val="E0DAD8"/>
    <a:srgbClr val="E9D4A9"/>
    <a:srgbClr val="F1E3C8"/>
    <a:srgbClr val="F4E9D4"/>
    <a:srgbClr val="F7F0E1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30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30D714-1198-4C04-8406-7326D028540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BCC3A-83C2-488E-853A-92A653563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199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2DC0A6-3C53-6153-A2BC-0EB7ED829250}"/>
              </a:ext>
            </a:extLst>
          </p:cNvPr>
          <p:cNvSpPr txBox="1"/>
          <p:nvPr userDrawn="1"/>
        </p:nvSpPr>
        <p:spPr>
          <a:xfrm>
            <a:off x="9486430" y="6497854"/>
            <a:ext cx="26420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50" dirty="0"/>
              <a:t>© 2023. Saebyeol Yu. all rights reserved.</a:t>
            </a:r>
            <a:endParaRPr lang="ko-KR" altLang="en-US" sz="1050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26D897-0CAB-E239-17B9-C9A4AEC8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542E4-3239-44E5-92F1-8B569E257A57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AB2A8D-6681-35B8-3CC0-6E314E045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055A0C-FD4B-453F-0BC2-E75455E5C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C7A3-7F7F-4502-9814-D99FE1395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264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2DC0A6-3C53-6153-A2BC-0EB7ED829250}"/>
              </a:ext>
            </a:extLst>
          </p:cNvPr>
          <p:cNvSpPr txBox="1"/>
          <p:nvPr userDrawn="1"/>
        </p:nvSpPr>
        <p:spPr>
          <a:xfrm>
            <a:off x="9486430" y="6497854"/>
            <a:ext cx="26420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50" dirty="0">
                <a:solidFill>
                  <a:schemeClr val="bg1"/>
                </a:solidFill>
              </a:rPr>
              <a:t>© 2023. Saebyeol Yu. all rights reserved.</a:t>
            </a:r>
            <a:endParaRPr lang="ko-KR" altLang="en-US" sz="1050" dirty="0">
              <a:solidFill>
                <a:schemeClr val="bg1"/>
              </a:solidFill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26D897-0CAB-E239-17B9-C9A4AEC8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542E4-3239-44E5-92F1-8B569E257A57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AB2A8D-6681-35B8-3CC0-6E314E045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055A0C-FD4B-453F-0BC2-E75455E5C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C7A3-7F7F-4502-9814-D99FE1395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300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E008D9-82E4-6BB5-62F2-166E9C48F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AE6AD4-5445-B623-6AF7-C15F6AAC7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41711B-B82A-51D0-C19F-E7ABCACCB2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542E4-3239-44E5-92F1-8B569E257A57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EB6EB9-4A25-3E3A-62C3-0843F442A3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804E55-8A8B-0F72-DEFC-B983B28395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9C7A3-7F7F-4502-9814-D99FE1395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1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9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래픽 19" descr="유기적 모서리 셰이프">
            <a:extLst>
              <a:ext uri="{FF2B5EF4-FFF2-40B4-BE49-F238E27FC236}">
                <a16:creationId xmlns:a16="http://schemas.microsoft.com/office/drawing/2014/main" id="{463C986B-CD8F-61F9-CE4C-8C79AA53B25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9300" y="0"/>
            <a:ext cx="4572000" cy="4572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975F80-8B6F-03DE-31B2-BEBD893CE300}"/>
              </a:ext>
            </a:extLst>
          </p:cNvPr>
          <p:cNvSpPr txBox="1"/>
          <p:nvPr/>
        </p:nvSpPr>
        <p:spPr>
          <a:xfrm>
            <a:off x="6901569" y="3987225"/>
            <a:ext cx="38843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202410275 </a:t>
            </a:r>
            <a:r>
              <a:rPr lang="ko-KR" altLang="en-US" sz="3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윤민재</a:t>
            </a:r>
            <a:endParaRPr lang="en-US" altLang="ko-KR" sz="3200" spc="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en-US" altLang="ko-KR" sz="3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202410836 </a:t>
            </a:r>
            <a:r>
              <a:rPr lang="ko-KR" altLang="en-US" sz="3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김재성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94A04-6EC3-D7F8-005E-8C392AA0138E}"/>
              </a:ext>
            </a:extLst>
          </p:cNvPr>
          <p:cNvSpPr txBox="1"/>
          <p:nvPr/>
        </p:nvSpPr>
        <p:spPr>
          <a:xfrm>
            <a:off x="2870658" y="2023554"/>
            <a:ext cx="59731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냉장고 관리 시스템</a:t>
            </a:r>
          </a:p>
        </p:txBody>
      </p:sp>
    </p:spTree>
    <p:extLst>
      <p:ext uri="{BB962C8B-B14F-4D97-AF65-F5344CB8AC3E}">
        <p14:creationId xmlns:p14="http://schemas.microsoft.com/office/powerpoint/2010/main" val="300157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AA0EA9D-9D45-C7F7-9CD6-54D2B66D1DC9}"/>
              </a:ext>
            </a:extLst>
          </p:cNvPr>
          <p:cNvSpPr/>
          <p:nvPr/>
        </p:nvSpPr>
        <p:spPr>
          <a:xfrm>
            <a:off x="2170427" y="1972527"/>
            <a:ext cx="3493756" cy="27006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202410275 </a:t>
            </a:r>
            <a:r>
              <a:rPr lang="ko-KR" altLang="en-US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윤민재</a:t>
            </a:r>
            <a:endParaRPr lang="en-US" altLang="ko-KR" dirty="0">
              <a:solidFill>
                <a:schemeClr val="tx1"/>
              </a:solidFill>
              <a:latin typeface="KT&amp;G 상상본문 L" panose="020B0600000101010101" pitchFamily="50" charset="-127"/>
              <a:ea typeface="KT&amp;G 상상본문 L" panose="020B0600000101010101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KT&amp;G 상상본문 L" panose="020B0600000101010101" pitchFamily="50" charset="-127"/>
              <a:ea typeface="KT&amp;G 상상본문 L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팀장 </a:t>
            </a:r>
            <a:r>
              <a:rPr lang="en-US" altLang="ko-KR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/ </a:t>
            </a:r>
            <a:r>
              <a:rPr lang="ko-KR" altLang="en-US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메인 프로그래머</a:t>
            </a:r>
            <a:endParaRPr lang="en-US" altLang="ko-KR" dirty="0">
              <a:solidFill>
                <a:schemeClr val="tx1"/>
              </a:solidFill>
              <a:latin typeface="KT&amp;G 상상본문 L" panose="020B0600000101010101" pitchFamily="50" charset="-127"/>
              <a:ea typeface="KT&amp;G 상상본문 L" panose="020B0600000101010101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 : </a:t>
            </a:r>
            <a:r>
              <a:rPr lang="ko-KR" altLang="en-US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프로그램의 전반적인 </a:t>
            </a:r>
            <a:endParaRPr lang="en-US" altLang="ko-KR" dirty="0">
              <a:solidFill>
                <a:schemeClr val="tx1"/>
              </a:solidFill>
              <a:latin typeface="KT&amp;G 상상본문 L" panose="020B0600000101010101" pitchFamily="50" charset="-127"/>
              <a:ea typeface="KT&amp;G 상상본문 L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구조 작성</a:t>
            </a:r>
            <a:r>
              <a:rPr lang="en-US" altLang="ko-KR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자료조사</a:t>
            </a:r>
            <a:r>
              <a:rPr lang="en-US" altLang="ko-KR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, ppt </a:t>
            </a:r>
            <a:r>
              <a:rPr lang="ko-KR" altLang="en-US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제작</a:t>
            </a:r>
            <a:endParaRPr lang="en-US" altLang="ko-KR" dirty="0">
              <a:solidFill>
                <a:schemeClr val="tx1"/>
              </a:solidFill>
              <a:latin typeface="KT&amp;G 상상본문 L" panose="020B0600000101010101" pitchFamily="50" charset="-127"/>
              <a:ea typeface="KT&amp;G 상상본문 L" panose="020B060000010101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DB3EBE3-FCE0-5CF2-37D6-5435564FA5A0}"/>
              </a:ext>
            </a:extLst>
          </p:cNvPr>
          <p:cNvSpPr/>
          <p:nvPr/>
        </p:nvSpPr>
        <p:spPr>
          <a:xfrm>
            <a:off x="6613902" y="1972527"/>
            <a:ext cx="3493756" cy="27006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202410836 </a:t>
            </a:r>
            <a:r>
              <a:rPr lang="ko-KR" altLang="en-US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김재성 </a:t>
            </a:r>
            <a:endParaRPr lang="en-US" altLang="ko-KR" dirty="0">
              <a:solidFill>
                <a:schemeClr val="tx1"/>
              </a:solidFill>
              <a:latin typeface="KT&amp;G 상상본문 L" panose="020B0600000101010101" pitchFamily="50" charset="-127"/>
              <a:ea typeface="KT&amp;G 상상본문 L" panose="020B0600000101010101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KT&amp;G 상상본문 L" panose="020B0600000101010101" pitchFamily="50" charset="-127"/>
              <a:ea typeface="KT&amp;G 상상본문 L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팀원 </a:t>
            </a:r>
            <a:r>
              <a:rPr lang="en-US" altLang="ko-KR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/ </a:t>
            </a:r>
            <a:r>
              <a:rPr lang="ko-KR" altLang="en-US" dirty="0" err="1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메인프로그래머</a:t>
            </a:r>
            <a:endParaRPr lang="en-US" altLang="ko-KR" dirty="0">
              <a:solidFill>
                <a:schemeClr val="tx1"/>
              </a:solidFill>
              <a:latin typeface="KT&amp;G 상상본문 L" panose="020B0600000101010101" pitchFamily="50" charset="-127"/>
              <a:ea typeface="KT&amp;G 상상본문 L" panose="020B0600000101010101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:</a:t>
            </a:r>
            <a:r>
              <a:rPr lang="ko-KR" altLang="en-US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프로그램의 세부적인 </a:t>
            </a:r>
            <a:endParaRPr lang="en-US" altLang="ko-KR" dirty="0">
              <a:solidFill>
                <a:schemeClr val="tx1"/>
              </a:solidFill>
              <a:latin typeface="KT&amp;G 상상본문 L" panose="020B0600000101010101" pitchFamily="50" charset="-127"/>
              <a:ea typeface="KT&amp;G 상상본문 L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코드 작성</a:t>
            </a:r>
            <a:r>
              <a:rPr lang="en-US" altLang="ko-KR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,</a:t>
            </a:r>
            <a:r>
              <a:rPr lang="ko-KR" altLang="en-US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자료조사</a:t>
            </a:r>
            <a:r>
              <a:rPr lang="en-US" altLang="ko-KR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KT&amp;G 상상본문 L" panose="020B0600000101010101" pitchFamily="50" charset="-127"/>
                <a:ea typeface="KT&amp;G 상상본문 L" panose="020B0600000101010101" pitchFamily="50" charset="-127"/>
              </a:rPr>
              <a:t>영상제작</a:t>
            </a:r>
            <a:endParaRPr lang="en-US" altLang="ko-KR" dirty="0">
              <a:solidFill>
                <a:schemeClr val="tx1"/>
              </a:solidFill>
              <a:latin typeface="KT&amp;G 상상본문 L" panose="020B0600000101010101" pitchFamily="50" charset="-127"/>
              <a:ea typeface="KT&amp;G 상상본문 L" panose="020B0600000101010101" pitchFamily="50" charset="-127"/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174679-BC6E-411D-8A8C-920DDB53B5D0}"/>
              </a:ext>
            </a:extLst>
          </p:cNvPr>
          <p:cNvSpPr txBox="1"/>
          <p:nvPr/>
        </p:nvSpPr>
        <p:spPr>
          <a:xfrm>
            <a:off x="3680255" y="982759"/>
            <a:ext cx="5202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냉장고를 부탁해 팀 구성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7B75FA-9994-47F5-B8CF-1874F3C6C363}"/>
              </a:ext>
            </a:extLst>
          </p:cNvPr>
          <p:cNvSpPr/>
          <p:nvPr/>
        </p:nvSpPr>
        <p:spPr>
          <a:xfrm>
            <a:off x="0" y="0"/>
            <a:ext cx="16482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Part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1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팀 구성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KT&amp;G 상상제목 B" panose="02000300000000000000" pitchFamily="2" charset="-127"/>
              <a:ea typeface="KT&amp;G 상상제목 B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277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9121005-5328-D0E8-0CCA-B1F8EA1848B8}"/>
              </a:ext>
            </a:extLst>
          </p:cNvPr>
          <p:cNvSpPr/>
          <p:nvPr/>
        </p:nvSpPr>
        <p:spPr>
          <a:xfrm>
            <a:off x="706798" y="1046002"/>
            <a:ext cx="11057363" cy="73033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1270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C9021F-1E8F-458A-A8C5-4A2E9C0B9913}"/>
              </a:ext>
            </a:extLst>
          </p:cNvPr>
          <p:cNvSpPr txBox="1"/>
          <p:nvPr/>
        </p:nvSpPr>
        <p:spPr>
          <a:xfrm>
            <a:off x="3709543" y="1118781"/>
            <a:ext cx="516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bg1"/>
                </a:solidFill>
              </a:rPr>
              <a:t>냉장고 관리 프로그램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0E0473-FE39-440B-B11D-A4D148BE3769}"/>
              </a:ext>
            </a:extLst>
          </p:cNvPr>
          <p:cNvSpPr txBox="1"/>
          <p:nvPr/>
        </p:nvSpPr>
        <p:spPr>
          <a:xfrm>
            <a:off x="1279395" y="3711611"/>
            <a:ext cx="997465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선정 이유</a:t>
            </a:r>
            <a:r>
              <a:rPr lang="en-US" altLang="ko-KR" sz="2400" dirty="0"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: </a:t>
            </a:r>
            <a:r>
              <a:rPr lang="ko-KR" altLang="en-US" sz="2400" dirty="0"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자취하다 보면 가격적인 측면을 위해 많은 양의 식재료를 구입 하게 됨</a:t>
            </a:r>
            <a:r>
              <a:rPr lang="en-US" altLang="ko-KR" sz="2400" dirty="0"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. </a:t>
            </a:r>
          </a:p>
          <a:p>
            <a:r>
              <a:rPr lang="ko-KR" altLang="en-US" sz="2400" dirty="0"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결국 남을 수 밖에 없고 상하게 되는 재료들을 최소화 하기 위해 </a:t>
            </a:r>
            <a:r>
              <a:rPr lang="ko-KR" altLang="ko-KR" sz="2400" dirty="0"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냉장고에 있는 식재료와 음식들을 효율적인 관리를 통해 음식이 상하는 것을 방지하기 위한 프로그램을 만들어 제작해보려고 함</a:t>
            </a:r>
            <a:r>
              <a:rPr lang="en-US" altLang="ko-KR" sz="2400" dirty="0"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. </a:t>
            </a:r>
            <a:endParaRPr lang="ko-KR" altLang="ko-KR" sz="2400" dirty="0">
              <a:latin typeface="KT&amp;G 상상제목 B" panose="02000300000000000000" pitchFamily="2" charset="-127"/>
              <a:ea typeface="KT&amp;G 상상제목 B" panose="02000300000000000000" pitchFamily="2" charset="-127"/>
            </a:endParaRPr>
          </a:p>
          <a:p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4A51696-E217-4E93-BB26-E78A8194C6E5}"/>
              </a:ext>
            </a:extLst>
          </p:cNvPr>
          <p:cNvSpPr/>
          <p:nvPr/>
        </p:nvSpPr>
        <p:spPr>
          <a:xfrm>
            <a:off x="0" y="0"/>
            <a:ext cx="44662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Part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2</a:t>
            </a:r>
            <a:r>
              <a:rPr lang="en-US" altLang="ko-K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 </a:t>
            </a: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프로그램 소개 및 선정 이유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T&amp;G 상상제목 B" panose="02000300000000000000" pitchFamily="2" charset="-127"/>
              <a:ea typeface="KT&amp;G 상상제목 B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0201A-55DC-459D-ACB7-CC4FC88FB28A}"/>
              </a:ext>
            </a:extLst>
          </p:cNvPr>
          <p:cNvSpPr txBox="1"/>
          <p:nvPr/>
        </p:nvSpPr>
        <p:spPr>
          <a:xfrm>
            <a:off x="1302282" y="2018840"/>
            <a:ext cx="9610323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프로그램 소개 </a:t>
            </a:r>
            <a:r>
              <a:rPr lang="en-US" altLang="ko-KR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: </a:t>
            </a:r>
            <a:r>
              <a:rPr lang="ko-KR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냉장고 품목을 입력 받아 이름순이나 종류별로 정리 해주고</a:t>
            </a:r>
            <a:endParaRPr lang="en-US" altLang="ko-KR" sz="2600" dirty="0">
              <a:solidFill>
                <a:schemeClr val="tx1">
                  <a:lumMod val="75000"/>
                  <a:lumOff val="25000"/>
                </a:schemeClr>
              </a:solidFill>
              <a:latin typeface="KT&amp;G 상상제목 B" panose="02000300000000000000" pitchFamily="2" charset="-127"/>
              <a:ea typeface="KT&amp;G 상상제목 B" panose="02000300000000000000" pitchFamily="2" charset="-127"/>
            </a:endParaRPr>
          </a:p>
          <a:p>
            <a:pPr algn="l"/>
            <a:r>
              <a:rPr lang="ko-KR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소비기한이 얼마 안 남은 재료들을 알려줌</a:t>
            </a:r>
            <a:r>
              <a:rPr lang="en-US" altLang="ko-KR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. </a:t>
            </a:r>
            <a:r>
              <a:rPr lang="ko-KR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또한 그 재료로 만들 수 있는 음식을</a:t>
            </a:r>
            <a:endParaRPr lang="en-US" altLang="ko-KR" sz="2600" dirty="0">
              <a:solidFill>
                <a:schemeClr val="tx1">
                  <a:lumMod val="75000"/>
                  <a:lumOff val="25000"/>
                </a:schemeClr>
              </a:solidFill>
              <a:latin typeface="KT&amp;G 상상제목 B" panose="02000300000000000000" pitchFamily="2" charset="-127"/>
              <a:ea typeface="KT&amp;G 상상제목 B" panose="02000300000000000000" pitchFamily="2" charset="-127"/>
            </a:endParaRPr>
          </a:p>
          <a:p>
            <a:pPr algn="l"/>
            <a:r>
              <a:rPr lang="ko-KR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추천 </a:t>
            </a:r>
            <a:r>
              <a:rPr lang="ko-KR" altLang="en-US" sz="2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해줌</a:t>
            </a:r>
            <a:r>
              <a:rPr lang="ko-KR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 </a:t>
            </a:r>
            <a:endParaRPr lang="en-US" altLang="ko-KR" sz="2600" dirty="0">
              <a:solidFill>
                <a:schemeClr val="tx1">
                  <a:lumMod val="75000"/>
                  <a:lumOff val="25000"/>
                </a:schemeClr>
              </a:solidFill>
              <a:latin typeface="KT&amp;G 상상제목 B" panose="02000300000000000000" pitchFamily="2" charset="-127"/>
              <a:ea typeface="KT&amp;G 상상제목 B" panose="02000300000000000000" pitchFamily="2" charset="-127"/>
            </a:endParaRPr>
          </a:p>
          <a:p>
            <a:pPr algn="l"/>
            <a:endParaRPr lang="ko-KR" altLang="en-US" sz="2600" dirty="0">
              <a:solidFill>
                <a:schemeClr val="tx1">
                  <a:lumMod val="75000"/>
                  <a:lumOff val="25000"/>
                </a:schemeClr>
              </a:solidFill>
              <a:latin typeface="KT&amp;G 상상제목 B" panose="02000300000000000000" pitchFamily="2" charset="-127"/>
              <a:ea typeface="KT&amp;G 상상제목 B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004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EC90644-B6B1-D5B8-DFA1-726D028E2D15}"/>
              </a:ext>
            </a:extLst>
          </p:cNvPr>
          <p:cNvSpPr txBox="1"/>
          <p:nvPr/>
        </p:nvSpPr>
        <p:spPr>
          <a:xfrm>
            <a:off x="1078981" y="1370692"/>
            <a:ext cx="3326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Main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함수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6C6A99-1848-4D1C-E59D-7BFAA93DD415}"/>
              </a:ext>
            </a:extLst>
          </p:cNvPr>
          <p:cNvSpPr txBox="1"/>
          <p:nvPr/>
        </p:nvSpPr>
        <p:spPr>
          <a:xfrm>
            <a:off x="8708744" y="3441136"/>
            <a:ext cx="239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내용을 입력하세요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6AE58D-28FA-4590-950D-A0B0874E88C1}"/>
              </a:ext>
            </a:extLst>
          </p:cNvPr>
          <p:cNvSpPr txBox="1"/>
          <p:nvPr/>
        </p:nvSpPr>
        <p:spPr>
          <a:xfrm>
            <a:off x="1577130" y="3271706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코드 사진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E811E1-8E9C-48C3-8DF6-9FD2B26FEB46}"/>
              </a:ext>
            </a:extLst>
          </p:cNvPr>
          <p:cNvSpPr txBox="1"/>
          <p:nvPr/>
        </p:nvSpPr>
        <p:spPr>
          <a:xfrm>
            <a:off x="6838406" y="1663079"/>
            <a:ext cx="450155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-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 메인 함수로서 사용자 인터페이스를 구현하며</a:t>
            </a:r>
            <a:endParaRPr lang="en-US" altLang="ko-KR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변수를 선언하고 다른 함수들을 호출 하여 </a:t>
            </a:r>
            <a:endParaRPr lang="en-US" altLang="ko-KR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프로그램이 잘 돌아가게 하는 역할을 담당함</a:t>
            </a:r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. </a:t>
            </a:r>
          </a:p>
          <a:p>
            <a:endParaRPr lang="en-US" altLang="ko-KR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음식 입력 함수</a:t>
            </a:r>
            <a:endParaRPr lang="en-US" altLang="ko-KR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정렬 함수</a:t>
            </a:r>
            <a:endParaRPr lang="en-US" altLang="ko-KR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저장된 음식 출력 함수</a:t>
            </a:r>
            <a:endParaRPr lang="en-US" altLang="ko-KR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소비기한 임박 재료 출력</a:t>
            </a:r>
            <a:endParaRPr lang="en-US" altLang="ko-KR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종류별 출력 등을 호출함</a:t>
            </a:r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.</a:t>
            </a:r>
            <a:endParaRPr lang="ko-KR" altLang="en-US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C0C2C2-E6F0-441F-AC31-D1484A92BF1E}"/>
              </a:ext>
            </a:extLst>
          </p:cNvPr>
          <p:cNvSpPr/>
          <p:nvPr/>
        </p:nvSpPr>
        <p:spPr>
          <a:xfrm>
            <a:off x="0" y="0"/>
            <a:ext cx="21579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Part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3</a:t>
            </a:r>
            <a:r>
              <a:rPr lang="en-US" altLang="ko-K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 </a:t>
            </a: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코드 소개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T&amp;G 상상제목 B" panose="02000300000000000000" pitchFamily="2" charset="-127"/>
              <a:ea typeface="KT&amp;G 상상제목 B" panose="02000300000000000000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8B77338-9133-4B35-B949-D7C6DE606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41" y="2016119"/>
            <a:ext cx="3820058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496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EC90644-B6B1-D5B8-DFA1-726D028E2D15}"/>
              </a:ext>
            </a:extLst>
          </p:cNvPr>
          <p:cNvSpPr txBox="1"/>
          <p:nvPr/>
        </p:nvSpPr>
        <p:spPr>
          <a:xfrm>
            <a:off x="1014961" y="851118"/>
            <a:ext cx="4463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구조체 선언 및 </a:t>
            </a:r>
            <a:r>
              <a:rPr lang="en-US" altLang="ko-KR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add_item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함수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6C6A99-1848-4D1C-E59D-7BFAA93DD415}"/>
              </a:ext>
            </a:extLst>
          </p:cNvPr>
          <p:cNvSpPr txBox="1"/>
          <p:nvPr/>
        </p:nvSpPr>
        <p:spPr>
          <a:xfrm>
            <a:off x="8708744" y="3441136"/>
            <a:ext cx="239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내용을 입력하세요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6AE58D-28FA-4590-950D-A0B0874E88C1}"/>
              </a:ext>
            </a:extLst>
          </p:cNvPr>
          <p:cNvSpPr txBox="1"/>
          <p:nvPr/>
        </p:nvSpPr>
        <p:spPr>
          <a:xfrm>
            <a:off x="1577130" y="3271706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코드 사진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E811E1-8E9C-48C3-8DF6-9FD2B26FEB46}"/>
              </a:ext>
            </a:extLst>
          </p:cNvPr>
          <p:cNvSpPr txBox="1"/>
          <p:nvPr/>
        </p:nvSpPr>
        <p:spPr>
          <a:xfrm>
            <a:off x="6826138" y="1909523"/>
            <a:ext cx="46308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• 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재료에 대한 자료를 받을 구조체를 선언 함</a:t>
            </a:r>
            <a:endParaRPr lang="en-US" altLang="ko-KR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endParaRPr lang="en-US" altLang="ko-KR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• </a:t>
            </a:r>
            <a:r>
              <a:rPr lang="en-US" altLang="ko-KR" dirty="0" err="1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Add_item</a:t>
            </a:r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 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함수는 재료에 대한 정보를 구조체 형태로</a:t>
            </a:r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 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받음</a:t>
            </a:r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. 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또한 반복문을 통하여 </a:t>
            </a:r>
            <a:r>
              <a:rPr lang="ko-KR" altLang="en-US" dirty="0" err="1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입력받으며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 재료이름을 </a:t>
            </a:r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end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라고 </a:t>
            </a:r>
            <a:r>
              <a:rPr lang="ko-KR" altLang="en-US" dirty="0" err="1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입력할시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 종료됨</a:t>
            </a:r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.</a:t>
            </a:r>
          </a:p>
          <a:p>
            <a:endParaRPr lang="en-US" altLang="ko-KR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endParaRPr lang="en-US" altLang="ko-KR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endParaRPr lang="en-US" altLang="ko-KR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endParaRPr lang="ko-KR" altLang="en-US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C0C2C2-E6F0-441F-AC31-D1484A92BF1E}"/>
              </a:ext>
            </a:extLst>
          </p:cNvPr>
          <p:cNvSpPr/>
          <p:nvPr/>
        </p:nvSpPr>
        <p:spPr>
          <a:xfrm>
            <a:off x="0" y="0"/>
            <a:ext cx="21579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Part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3</a:t>
            </a:r>
            <a:r>
              <a:rPr lang="en-US" altLang="ko-K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 </a:t>
            </a: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코드 소개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T&amp;G 상상제목 B" panose="02000300000000000000" pitchFamily="2" charset="-127"/>
              <a:ea typeface="KT&amp;G 상상제목 B" panose="02000300000000000000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F658366-3209-4D78-8291-68C71D8C6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61" y="1517570"/>
            <a:ext cx="5249008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174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EC90644-B6B1-D5B8-DFA1-726D028E2D15}"/>
              </a:ext>
            </a:extLst>
          </p:cNvPr>
          <p:cNvSpPr txBox="1"/>
          <p:nvPr/>
        </p:nvSpPr>
        <p:spPr>
          <a:xfrm>
            <a:off x="603892" y="861185"/>
            <a:ext cx="4463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name_array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및 </a:t>
            </a:r>
            <a:r>
              <a:rPr lang="en-US" altLang="ko-KR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save_items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함수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6C6A99-1848-4D1C-E59D-7BFAA93DD415}"/>
              </a:ext>
            </a:extLst>
          </p:cNvPr>
          <p:cNvSpPr txBox="1"/>
          <p:nvPr/>
        </p:nvSpPr>
        <p:spPr>
          <a:xfrm>
            <a:off x="8708744" y="3441136"/>
            <a:ext cx="239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내용을 입력하세요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6AE58D-28FA-4590-950D-A0B0874E88C1}"/>
              </a:ext>
            </a:extLst>
          </p:cNvPr>
          <p:cNvSpPr txBox="1"/>
          <p:nvPr/>
        </p:nvSpPr>
        <p:spPr>
          <a:xfrm>
            <a:off x="1577130" y="3271706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코드 사진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E811E1-8E9C-48C3-8DF6-9FD2B26FEB46}"/>
              </a:ext>
            </a:extLst>
          </p:cNvPr>
          <p:cNvSpPr txBox="1"/>
          <p:nvPr/>
        </p:nvSpPr>
        <p:spPr>
          <a:xfrm>
            <a:off x="6340295" y="1453829"/>
            <a:ext cx="46308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•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name_array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 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함수는 버블 정렬을 통해 받은 재료 명을 가나다 순으로 정렬함</a:t>
            </a:r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.</a:t>
            </a:r>
          </a:p>
          <a:p>
            <a:endParaRPr lang="en-US" altLang="ko-KR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endParaRPr lang="en-US" altLang="ko-KR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endParaRPr lang="en-US" altLang="ko-KR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• </a:t>
            </a:r>
            <a:r>
              <a:rPr lang="en-US" altLang="ko-KR" dirty="0" err="1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save_items</a:t>
            </a:r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 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함수는 </a:t>
            </a:r>
            <a:r>
              <a:rPr lang="ko-KR" altLang="en-US" dirty="0" err="1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입력받은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 재료에 대한</a:t>
            </a:r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 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자료 중에 소비기한이 기준보다 적은 재료들을 </a:t>
            </a:r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if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문을 이용해 출력함</a:t>
            </a:r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.</a:t>
            </a:r>
          </a:p>
          <a:p>
            <a:endParaRPr lang="en-US" altLang="ko-KR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endParaRPr lang="ko-KR" altLang="en-US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C0C2C2-E6F0-441F-AC31-D1484A92BF1E}"/>
              </a:ext>
            </a:extLst>
          </p:cNvPr>
          <p:cNvSpPr/>
          <p:nvPr/>
        </p:nvSpPr>
        <p:spPr>
          <a:xfrm>
            <a:off x="0" y="0"/>
            <a:ext cx="21579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Part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3</a:t>
            </a:r>
            <a:r>
              <a:rPr lang="en-US" altLang="ko-K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 </a:t>
            </a: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코드 소개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T&amp;G 상상제목 B" panose="02000300000000000000" pitchFamily="2" charset="-127"/>
              <a:ea typeface="KT&amp;G 상상제목 B" panose="02000300000000000000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0DA9FFB-0693-46D0-B8F0-CA2034A7A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92" y="1356164"/>
            <a:ext cx="4763165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743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EC90644-B6B1-D5B8-DFA1-726D028E2D15}"/>
              </a:ext>
            </a:extLst>
          </p:cNvPr>
          <p:cNvSpPr txBox="1"/>
          <p:nvPr/>
        </p:nvSpPr>
        <p:spPr>
          <a:xfrm>
            <a:off x="469668" y="792039"/>
            <a:ext cx="4463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alert_items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및 </a:t>
            </a:r>
            <a:r>
              <a:rPr lang="en-US" altLang="ko-KR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types_item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함수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6C6A99-1848-4D1C-E59D-7BFAA93DD415}"/>
              </a:ext>
            </a:extLst>
          </p:cNvPr>
          <p:cNvSpPr txBox="1"/>
          <p:nvPr/>
        </p:nvSpPr>
        <p:spPr>
          <a:xfrm>
            <a:off x="8708744" y="3441136"/>
            <a:ext cx="239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내용을 입력하세요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6AE58D-28FA-4590-950D-A0B0874E88C1}"/>
              </a:ext>
            </a:extLst>
          </p:cNvPr>
          <p:cNvSpPr txBox="1"/>
          <p:nvPr/>
        </p:nvSpPr>
        <p:spPr>
          <a:xfrm>
            <a:off x="1577130" y="3271706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코드 사진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E811E1-8E9C-48C3-8DF6-9FD2B26FEB46}"/>
              </a:ext>
            </a:extLst>
          </p:cNvPr>
          <p:cNvSpPr txBox="1"/>
          <p:nvPr/>
        </p:nvSpPr>
        <p:spPr>
          <a:xfrm>
            <a:off x="6165755" y="1966164"/>
            <a:ext cx="46308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• </a:t>
            </a:r>
            <a:r>
              <a:rPr lang="en-US" altLang="ko-KR" dirty="0" err="1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Alert_items</a:t>
            </a:r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 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함수는 </a:t>
            </a:r>
            <a:r>
              <a:rPr lang="ko-KR" altLang="en-US" dirty="0" err="1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입력받은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 재료에 대한 </a:t>
            </a:r>
            <a:r>
              <a:rPr lang="ko-KR" altLang="en-US" dirty="0" err="1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정보중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 </a:t>
            </a:r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 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소비기한이 기준보다 적은 재료들을 </a:t>
            </a:r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if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문을 이용해 출력함</a:t>
            </a:r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.</a:t>
            </a:r>
          </a:p>
          <a:p>
            <a:endParaRPr lang="en-US" altLang="ko-KR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• </a:t>
            </a:r>
            <a:r>
              <a:rPr lang="en-US" altLang="ko-KR" dirty="0" err="1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types_item</a:t>
            </a:r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 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함수는 </a:t>
            </a:r>
            <a:r>
              <a:rPr lang="ko-KR" altLang="en-US" dirty="0" err="1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입력받은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 재료의 정보를 종류 별로 분리해서 출력해줌</a:t>
            </a:r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.</a:t>
            </a:r>
          </a:p>
          <a:p>
            <a:endParaRPr lang="ko-KR" altLang="en-US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C0C2C2-E6F0-441F-AC31-D1484A92BF1E}"/>
              </a:ext>
            </a:extLst>
          </p:cNvPr>
          <p:cNvSpPr/>
          <p:nvPr/>
        </p:nvSpPr>
        <p:spPr>
          <a:xfrm>
            <a:off x="0" y="0"/>
            <a:ext cx="21579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Part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3</a:t>
            </a:r>
            <a:r>
              <a:rPr lang="en-US" altLang="ko-K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 </a:t>
            </a: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코드 소개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T&amp;G 상상제목 B" panose="02000300000000000000" pitchFamily="2" charset="-127"/>
              <a:ea typeface="KT&amp;G 상상제목 B" panose="020003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4C0B839-0A8D-459A-847A-B63872234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08" y="1399413"/>
            <a:ext cx="5201376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27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9BF92CC-27B1-833C-C3D2-105CF7EC2BFE}"/>
              </a:ext>
            </a:extLst>
          </p:cNvPr>
          <p:cNvSpPr/>
          <p:nvPr/>
        </p:nvSpPr>
        <p:spPr>
          <a:xfrm>
            <a:off x="341195" y="1639680"/>
            <a:ext cx="3061275" cy="746541"/>
          </a:xfrm>
          <a:prstGeom prst="roundRect">
            <a:avLst>
              <a:gd name="adj" fmla="val 4819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윤민재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C31BDAA-887C-BC51-7347-0A86E84D8D9D}"/>
              </a:ext>
            </a:extLst>
          </p:cNvPr>
          <p:cNvSpPr/>
          <p:nvPr/>
        </p:nvSpPr>
        <p:spPr>
          <a:xfrm>
            <a:off x="341195" y="3921719"/>
            <a:ext cx="3061275" cy="746541"/>
          </a:xfrm>
          <a:prstGeom prst="roundRect">
            <a:avLst>
              <a:gd name="adj" fmla="val 48194"/>
            </a:avLst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김재성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9D781C-37F2-EC56-DBC6-D210394CDE3B}"/>
              </a:ext>
            </a:extLst>
          </p:cNvPr>
          <p:cNvSpPr txBox="1"/>
          <p:nvPr/>
        </p:nvSpPr>
        <p:spPr>
          <a:xfrm>
            <a:off x="9196575" y="2119003"/>
            <a:ext cx="1576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소제목을 입력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C36C640-F298-4E9E-877E-3193AEB8FB7C}"/>
              </a:ext>
            </a:extLst>
          </p:cNvPr>
          <p:cNvSpPr/>
          <p:nvPr/>
        </p:nvSpPr>
        <p:spPr>
          <a:xfrm>
            <a:off x="3951723" y="1639680"/>
            <a:ext cx="6602135" cy="16861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소비기한이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ko-KR" altLang="en-US" sz="2000" dirty="0">
                <a:solidFill>
                  <a:schemeClr val="tx1"/>
                </a:solidFill>
              </a:rPr>
              <a:t>임박한 재료를 통해 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음식 추천해주는 기능을 </a:t>
            </a:r>
            <a:r>
              <a:rPr lang="ko-KR" altLang="en-US" sz="2000" dirty="0" err="1">
                <a:solidFill>
                  <a:schemeClr val="tx1"/>
                </a:solidFill>
              </a:rPr>
              <a:t>구현하지못</a:t>
            </a:r>
            <a:r>
              <a:rPr lang="ko-KR" altLang="en-US" sz="2000" dirty="0">
                <a:solidFill>
                  <a:schemeClr val="tx1"/>
                </a:solidFill>
              </a:rPr>
              <a:t> 하였다</a:t>
            </a:r>
            <a:r>
              <a:rPr lang="en-US" altLang="ko-KR" sz="2000" dirty="0">
                <a:solidFill>
                  <a:schemeClr val="tx1"/>
                </a:solidFill>
              </a:rPr>
              <a:t>.  </a:t>
            </a:r>
            <a:r>
              <a:rPr lang="ko-KR" altLang="en-US" sz="2000" dirty="0">
                <a:solidFill>
                  <a:schemeClr val="tx1"/>
                </a:solidFill>
              </a:rPr>
              <a:t>또한 재료 종류를 열거형으로 받고 싶다</a:t>
            </a:r>
            <a:r>
              <a:rPr lang="en-US" altLang="ko-KR" sz="200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이처럼 여러가지 </a:t>
            </a:r>
            <a:r>
              <a:rPr lang="ko-KR" altLang="en-US" sz="2000" dirty="0" err="1">
                <a:solidFill>
                  <a:schemeClr val="tx1"/>
                </a:solidFill>
              </a:rPr>
              <a:t>기능등을</a:t>
            </a:r>
            <a:r>
              <a:rPr lang="ko-KR" altLang="en-US" sz="2000" dirty="0">
                <a:solidFill>
                  <a:schemeClr val="tx1"/>
                </a:solidFill>
              </a:rPr>
              <a:t> </a:t>
            </a:r>
            <a:r>
              <a:rPr lang="ko-KR" altLang="en-US" sz="2000" dirty="0" err="1">
                <a:solidFill>
                  <a:schemeClr val="tx1"/>
                </a:solidFill>
              </a:rPr>
              <a:t>추가한뒤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소스 파일을 분리할 예정이다</a:t>
            </a:r>
            <a:r>
              <a:rPr lang="en-US" altLang="ko-KR" sz="2000" dirty="0">
                <a:solidFill>
                  <a:schemeClr val="tx1"/>
                </a:solidFill>
              </a:rPr>
              <a:t>.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59678BD-DABF-42EA-BA0F-FC92544A4BC6}"/>
              </a:ext>
            </a:extLst>
          </p:cNvPr>
          <p:cNvSpPr/>
          <p:nvPr/>
        </p:nvSpPr>
        <p:spPr>
          <a:xfrm>
            <a:off x="3931638" y="3921719"/>
            <a:ext cx="6602135" cy="16861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F86ACBF-2EA8-41CA-97D5-722CBB9130EB}"/>
              </a:ext>
            </a:extLst>
          </p:cNvPr>
          <p:cNvSpPr/>
          <p:nvPr/>
        </p:nvSpPr>
        <p:spPr>
          <a:xfrm>
            <a:off x="4493546" y="4093655"/>
            <a:ext cx="5404043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000" dirty="0"/>
              <a:t>현재는 실제 날짜가 아닌 남은 소비기한을 직접</a:t>
            </a:r>
            <a:endParaRPr lang="en-US" altLang="ko-KR" sz="2000" dirty="0"/>
          </a:p>
          <a:p>
            <a:pPr algn="ctr"/>
            <a:r>
              <a:rPr lang="ko-KR" altLang="en-US" sz="2000" dirty="0"/>
              <a:t>입력해야 되는데 실제 소비기한을 입력하면</a:t>
            </a:r>
            <a:endParaRPr lang="en-US" altLang="ko-KR" sz="2000" dirty="0"/>
          </a:p>
          <a:p>
            <a:pPr algn="ctr"/>
            <a:r>
              <a:rPr lang="ko-KR" altLang="en-US" sz="2000" dirty="0"/>
              <a:t>실제 현재 날짜를 이용해 남은 소비기한을</a:t>
            </a:r>
            <a:endParaRPr lang="en-US" altLang="ko-KR" sz="2000" dirty="0"/>
          </a:p>
          <a:p>
            <a:pPr algn="ctr"/>
            <a:r>
              <a:rPr lang="ko-KR" altLang="en-US" sz="2000" dirty="0"/>
              <a:t>알려주게 만들고 싶다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B56B577-A1E3-49C4-81BD-1EE8135E901C}"/>
              </a:ext>
            </a:extLst>
          </p:cNvPr>
          <p:cNvSpPr/>
          <p:nvPr/>
        </p:nvSpPr>
        <p:spPr>
          <a:xfrm>
            <a:off x="0" y="24096"/>
            <a:ext cx="44534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Part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4</a:t>
            </a:r>
            <a:r>
              <a:rPr lang="en-US" altLang="ko-K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 </a:t>
            </a: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최종 제출때까지 개선할 점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T&amp;G 상상제목 B" panose="02000300000000000000" pitchFamily="2" charset="-127"/>
              <a:ea typeface="KT&amp;G 상상제목 B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198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9BF92CC-27B1-833C-C3D2-105CF7EC2BFE}"/>
              </a:ext>
            </a:extLst>
          </p:cNvPr>
          <p:cNvSpPr/>
          <p:nvPr/>
        </p:nvSpPr>
        <p:spPr>
          <a:xfrm>
            <a:off x="341195" y="1639680"/>
            <a:ext cx="3061275" cy="746541"/>
          </a:xfrm>
          <a:prstGeom prst="roundRect">
            <a:avLst>
              <a:gd name="adj" fmla="val 4819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윤민재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C31BDAA-887C-BC51-7347-0A86E84D8D9D}"/>
              </a:ext>
            </a:extLst>
          </p:cNvPr>
          <p:cNvSpPr/>
          <p:nvPr/>
        </p:nvSpPr>
        <p:spPr>
          <a:xfrm>
            <a:off x="341195" y="4047273"/>
            <a:ext cx="3061275" cy="746541"/>
          </a:xfrm>
          <a:prstGeom prst="roundRect">
            <a:avLst>
              <a:gd name="adj" fmla="val 48194"/>
            </a:avLst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김재성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9D781C-37F2-EC56-DBC6-D210394CDE3B}"/>
              </a:ext>
            </a:extLst>
          </p:cNvPr>
          <p:cNvSpPr txBox="1"/>
          <p:nvPr/>
        </p:nvSpPr>
        <p:spPr>
          <a:xfrm>
            <a:off x="9112685" y="2106016"/>
            <a:ext cx="1576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소제목을 입력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C36C640-F298-4E9E-877E-3193AEB8FB7C}"/>
              </a:ext>
            </a:extLst>
          </p:cNvPr>
          <p:cNvSpPr/>
          <p:nvPr/>
        </p:nvSpPr>
        <p:spPr>
          <a:xfrm>
            <a:off x="3931639" y="1634288"/>
            <a:ext cx="6602135" cy="19149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실용적인 코드를 작성하면서 실제로 사용했을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때의 편리성을 자꾸 고민 하게 되다 보니 코드가 길어졌지만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단순한 예제문제가 아닌 실제로 사용 가능한 프로그램을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만들었다는 사실이 기쁘다 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팀 프로젝트라 </a:t>
            </a:r>
            <a:r>
              <a:rPr lang="ko-KR" altLang="en-US" dirty="0" err="1">
                <a:solidFill>
                  <a:schemeClr val="tx1"/>
                </a:solidFill>
              </a:rPr>
              <a:t>팀원간의</a:t>
            </a:r>
            <a:r>
              <a:rPr lang="ko-KR" altLang="en-US" dirty="0">
                <a:solidFill>
                  <a:schemeClr val="tx1"/>
                </a:solidFill>
              </a:rPr>
              <a:t> 소통이 힘들까 걱정 했지만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소통이 잘 되어서 다행이었다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59678BD-DABF-42EA-BA0F-FC92544A4BC6}"/>
              </a:ext>
            </a:extLst>
          </p:cNvPr>
          <p:cNvSpPr/>
          <p:nvPr/>
        </p:nvSpPr>
        <p:spPr>
          <a:xfrm>
            <a:off x="3931639" y="4047273"/>
            <a:ext cx="6602135" cy="16861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F86ACBF-2EA8-41CA-97D5-722CBB9130EB}"/>
              </a:ext>
            </a:extLst>
          </p:cNvPr>
          <p:cNvSpPr/>
          <p:nvPr/>
        </p:nvSpPr>
        <p:spPr>
          <a:xfrm>
            <a:off x="3931639" y="4047273"/>
            <a:ext cx="660213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냉장보관프로그램을 만들면서 현실적인 문제를 코드로 </a:t>
            </a:r>
            <a:endParaRPr lang="en-US" altLang="ko-KR" dirty="0"/>
          </a:p>
          <a:p>
            <a:pPr algn="ctr"/>
            <a:r>
              <a:rPr lang="ko-KR" altLang="en-US" dirty="0"/>
              <a:t>구현함으로써 프로그래밍의 뛰어난 힘을 체감할 수 있었고 </a:t>
            </a:r>
            <a:endParaRPr lang="en-US" altLang="ko-KR" dirty="0"/>
          </a:p>
          <a:p>
            <a:pPr algn="ctr"/>
            <a:r>
              <a:rPr lang="ko-KR" altLang="en-US" dirty="0"/>
              <a:t>작은 간단한 코드임에도 동작이 성공함을 통해 성취감을 느낄 수 있었다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E310344-97E3-4819-8267-7DC3309FFAF8}"/>
              </a:ext>
            </a:extLst>
          </p:cNvPr>
          <p:cNvSpPr/>
          <p:nvPr/>
        </p:nvSpPr>
        <p:spPr>
          <a:xfrm>
            <a:off x="-2400" y="-15907"/>
            <a:ext cx="18742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Part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5</a:t>
            </a:r>
            <a:r>
              <a:rPr lang="en-US" altLang="ko-K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 </a:t>
            </a: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느낀 점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T&amp;G 상상제목 B" panose="02000300000000000000" pitchFamily="2" charset="-127"/>
              <a:ea typeface="KT&amp;G 상상제목 B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7643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9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래픽 19" descr="유기적 모서리 셰이프">
            <a:extLst>
              <a:ext uri="{FF2B5EF4-FFF2-40B4-BE49-F238E27FC236}">
                <a16:creationId xmlns:a16="http://schemas.microsoft.com/office/drawing/2014/main" id="{463C986B-CD8F-61F9-CE4C-8C79AA53B25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9300" y="0"/>
            <a:ext cx="4572000" cy="4572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A94A04-6EC3-D7F8-005E-8C392AA0138E}"/>
              </a:ext>
            </a:extLst>
          </p:cNvPr>
          <p:cNvSpPr txBox="1"/>
          <p:nvPr/>
        </p:nvSpPr>
        <p:spPr>
          <a:xfrm>
            <a:off x="3951828" y="3241645"/>
            <a:ext cx="42883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감사합니다</a:t>
            </a:r>
            <a:r>
              <a:rPr lang="en-US" altLang="ko-KR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!</a:t>
            </a:r>
            <a:endParaRPr lang="ko-KR" altLang="en-US" sz="60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0383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인스타그램갬성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C95C2"/>
      </a:accent1>
      <a:accent2>
        <a:srgbClr val="779289"/>
      </a:accent2>
      <a:accent3>
        <a:srgbClr val="97AEB6"/>
      </a:accent3>
      <a:accent4>
        <a:srgbClr val="F1E3C8"/>
      </a:accent4>
      <a:accent5>
        <a:srgbClr val="D9D1CE"/>
      </a:accent5>
      <a:accent6>
        <a:srgbClr val="9C918C"/>
      </a:accent6>
      <a:hlink>
        <a:srgbClr val="3F3F3F"/>
      </a:hlink>
      <a:folHlink>
        <a:srgbClr val="3F3F3F"/>
      </a:folHlink>
    </a:clrScheme>
    <a:fontScheme name="Pretendard Black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600" dirty="0">
            <a:solidFill>
              <a:schemeClr val="tx1">
                <a:lumMod val="75000"/>
                <a:lumOff val="25000"/>
              </a:schemeClr>
            </a:solidFill>
            <a:latin typeface="KT&amp;G 상상제목 B" panose="02000300000000000000" pitchFamily="2" charset="-127"/>
            <a:ea typeface="KT&amp;G 상상제목 B" panose="020003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2001</TotalTime>
  <Words>444</Words>
  <Application>Microsoft Office PowerPoint</Application>
  <PresentationFormat>와이드스크린</PresentationFormat>
  <Paragraphs>86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KT&amp;G 상상본문 L</vt:lpstr>
      <vt:lpstr>KT&amp;G 상상본문 M</vt:lpstr>
      <vt:lpstr>KT&amp;G 상상제목 B</vt:lpstr>
      <vt:lpstr>Pretendard</vt:lpstr>
      <vt:lpstr>Pretendard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윤민재</cp:lastModifiedBy>
  <cp:revision>29</cp:revision>
  <dcterms:created xsi:type="dcterms:W3CDTF">2023-08-20T10:34:02Z</dcterms:created>
  <dcterms:modified xsi:type="dcterms:W3CDTF">2024-12-12T14:52:19Z</dcterms:modified>
</cp:coreProperties>
</file>